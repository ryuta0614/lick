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731520"/>
            <a:ext cx="80467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09728" cy="365760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月次ECレポート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楽天市場 売上分析レポート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　楽天市場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834640"/>
            <a:ext cx="6400800" cy="228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26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顧客：株式会社マクロジ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2461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作成：マクロジ ECコンサルティング部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029200" y="494690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サマリー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74980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2026年7月の楽天市場における主要KPIを前月比で比較します。アクセス急減が売上低下の主因です。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274320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80160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売上合計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¥5,264,311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" y="2212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-31.2%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1280160"/>
            <a:ext cx="274320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280160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注文件数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154680" y="2212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-29.9%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1280160"/>
            <a:ext cx="2743200" cy="16459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1280160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16916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23,174人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35040" y="22128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-21.2%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063240"/>
            <a:ext cx="2743200" cy="137160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127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7432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7432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-10.8%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54680" y="3063240"/>
            <a:ext cx="2743200" cy="137160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3127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客単価(AOV)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5468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¥12,563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15468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 -1.8%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0" y="3063240"/>
            <a:ext cx="2743200" cy="137160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0" y="31272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前月売上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035040" y="3383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¥7,653,026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03504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2026年6月実績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KPIダッシュボード｜前月比較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68096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指標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71800" y="76809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今月（7月）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76809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前月（6月）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80760" y="76809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269480" y="768096"/>
            <a:ext cx="1508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評価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170432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216152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売上合計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71800" y="121615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¥5,264,311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1216152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¥7,653,026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1216152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-31.2%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69480" y="121615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要対応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1828800"/>
            <a:ext cx="859536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87452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注文件数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187452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419件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187452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598件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1874520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-29.9%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69480" y="187452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要対応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487168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532888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 (AOV)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71800" y="253288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¥12,563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17720" y="2532888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¥12,797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532888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69480" y="253288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維持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145536"/>
            <a:ext cx="8595360" cy="621792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191256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アクセス数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71800" y="319125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23,174人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17720" y="3191256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29,406人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3191256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269480" y="3191256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主因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74320" y="3803904"/>
            <a:ext cx="85953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849624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971800" y="3849624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17720" y="3849624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2.03%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3849624"/>
            <a:ext cx="11430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-10.8%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69480" y="3849624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 微減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売上分解｜アクセス × CVR × 客単価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売上変化の要因を3要素に分解し、施策の優先順位を特定します。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8595360" cy="50292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21615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 = アクセス × CVR × 客単価（AOV）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1764792"/>
            <a:ext cx="2743200" cy="2560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64792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202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23,174人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74320" y="27614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-21.2%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2743200" cy="228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主因 ▶ 広告・SEO対策が急務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1764792"/>
            <a:ext cx="2743200" cy="2560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1764792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54680" y="19202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1.81%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154680" y="27614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-10.8%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154680" y="3200400"/>
            <a:ext cx="2743200" cy="228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微減 ▶ ページ改善で補完可能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35040" y="1764792"/>
            <a:ext cx="2743200" cy="2560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35040" y="1764792"/>
            <a:ext cx="2743200" cy="914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9202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客単価 (AOV)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35040" y="2240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¥12,563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035040" y="276148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-1.8%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035040" y="3200400"/>
            <a:ext cx="2743200" cy="22860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3246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安定 ▶ セット販売継続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926080" y="2423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806440" y="2423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SKU別売上ランキング TOP7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58952"/>
            <a:ext cx="365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順位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7589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商品名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75895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SKU-ID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81728" y="758952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53328" y="758952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構成比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76288" y="7589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前月比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26680" y="75895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366760" y="7589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単価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111556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1179576"/>
            <a:ext cx="347472" cy="347472"/>
          </a:xfrm>
          <a:prstGeom prst="rect">
            <a:avLst/>
          </a:prstGeom>
          <a:solidFill>
            <a:srgbClr val="C0A020"/>
          </a:solidFill>
          <a:ln w="12700">
            <a:solidFill>
              <a:srgbClr val="C0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11795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すのこベッド（シングル）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117043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81728" y="117043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¥1,098,680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53328" y="11704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20.9%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76288" y="117043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-8.9%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26680" y="117043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366760" y="1170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¥14,847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1627632"/>
            <a:ext cx="859536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1691640"/>
            <a:ext cx="347472" cy="347472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1691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16824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ペットドライヤーハウス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37560" y="168249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mc-0006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81728" y="168249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¥984,410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53328" y="168249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76288" y="168249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+83.6%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26680" y="168249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366760" y="168249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¥16,685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74320" y="2139696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0040" y="2203704"/>
            <a:ext cx="347472" cy="347472"/>
          </a:xfrm>
          <a:prstGeom prst="rect">
            <a:avLst/>
          </a:prstGeom>
          <a:solidFill>
            <a:srgbClr val="A06030"/>
          </a:solidFill>
          <a:ln w="12700">
            <a:solidFill>
              <a:srgbClr val="A060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037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21945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AI搭載ペットロボットLoona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33756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loona-h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81728" y="2194560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¥693,000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053328" y="21945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76288" y="2194560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+29.1%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726680" y="21945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66760" y="21945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¥99,000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74320" y="2651760"/>
            <a:ext cx="859536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20040" y="2715768"/>
            <a:ext cx="347472" cy="34747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0040" y="27157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77240" y="2706624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大容量収納ベッド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337560" y="2706624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yj-0002_a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81728" y="2706624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¥511,780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053328" y="270662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9.7%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76288" y="270662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-12.0%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726680" y="2706624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66760" y="2706624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¥12,795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316382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" y="3227832"/>
            <a:ext cx="347472" cy="34747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0040" y="32278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777240" y="32186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見守りカメラTalkMee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337560" y="3218688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mc-0004-1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681728" y="321868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¥280,410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6053328" y="321868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6876288" y="3218688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+0.1%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7726680" y="3218688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366760" y="3218688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¥4,064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74320" y="3675888"/>
            <a:ext cx="8595360" cy="475488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20040" y="3739896"/>
            <a:ext cx="347472" cy="34747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0040" y="3739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77240" y="373075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テレビ台幅150cm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3337560" y="3730752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yj-0004_a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4681728" y="3730752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¥260,910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053328" y="37307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5.0%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6876288" y="37307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+65.5%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726680" y="373075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8366760" y="373075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¥6,690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74320" y="4187952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" y="4251960"/>
            <a:ext cx="347472" cy="347472"/>
          </a:xfrm>
          <a:prstGeom prst="rect">
            <a:avLst/>
          </a:prstGeom>
          <a:solidFill>
            <a:srgbClr val="D0D8E4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42519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777240" y="424281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機能性すのこベッド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3337560" y="4242816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yj-0001_b</a:t>
            </a:r>
            <a:endParaRPr lang="en-US" sz="900" dirty="0"/>
          </a:p>
        </p:txBody>
      </p:sp>
      <p:sp>
        <p:nvSpPr>
          <p:cNvPr id="83" name="Text 81"/>
          <p:cNvSpPr/>
          <p:nvPr/>
        </p:nvSpPr>
        <p:spPr>
          <a:xfrm>
            <a:off x="4681728" y="4242816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¥256,350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6053328" y="424281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4.9%</a:t>
            </a:r>
            <a:endParaRPr lang="en-US" sz="900" dirty="0"/>
          </a:p>
        </p:txBody>
      </p:sp>
      <p:sp>
        <p:nvSpPr>
          <p:cNvPr id="85" name="Text 83"/>
          <p:cNvSpPr/>
          <p:nvPr/>
        </p:nvSpPr>
        <p:spPr>
          <a:xfrm>
            <a:off x="6876288" y="4242816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-74.6%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7726680" y="4242816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87" name="Text 85"/>
          <p:cNvSpPr/>
          <p:nvPr/>
        </p:nvSpPr>
        <p:spPr>
          <a:xfrm>
            <a:off x="8366760" y="4242816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¥9,155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FACT（事実）／HYPOTHESIS（仮説）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4160520" cy="4023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77240"/>
            <a:ext cx="4160520" cy="384048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0467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FACT（データが示す事実）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23444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アクセスが前月比 -21.2%（-6,232人）と急減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70992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売上が前月比 -31.2%（-¥2,388,715）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18541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TOP3商品で売上の 52.8% を占める（集中リスク）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66090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mc-0006（ペットドライヤー）が +83.6% と急成長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13639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loona-h（AIロボット）が +29.1% と成長継続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61188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yj-0001_b（すのこベッドB）が -74.6% と急落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08736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客単価は ¥12,563（前月比 -1.8%）と安定維持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777240"/>
            <a:ext cx="4160520" cy="4023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777240"/>
            <a:ext cx="4160520" cy="384048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804672"/>
            <a:ext cx="4069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HYPOTHESIS（仮説・要確認）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1234440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RPP広告予算削減 or インプレッション低下が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アクセス急減の主因か？（要: 広告ログ確認）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54880" y="1837944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6月マラソン vs 7月イベント差がアクセスに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影響している可能性（イベントカレンダー確認）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2441448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yj-0001_bは欠品 or 価格競合の可能性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（在庫・競合状況を確認）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3044952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mc-0006の成長は広告効果 or オーガニック？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（引き続き広告投資の継続が有効か）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3648456"/>
            <a:ext cx="3977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CVRは微減（-11.1%）のみ → ページ品質は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維持できており、集客回復で売上回復見込み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優先アクション（P0 / P1）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749808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× Confidence × Speed ÷ Effort の順で施策を優先順位付けしています。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170432"/>
            <a:ext cx="27432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170432"/>
            <a:ext cx="2743200" cy="4389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 アクセス急減の原因特定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今週中（8/15まで）　担当: コンサル担当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199339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RPP広告のインプレッション・CPC変化を確認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" y="2523744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検索キーワード順位の変化を RMS で確認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0540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6月マラソン vs 7月イベント有無を確認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54680" y="1170432"/>
            <a:ext cx="27432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54680" y="1170432"/>
            <a:ext cx="274320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46120" y="11887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主力SKUの在庫リスク確認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今週中（8/15まで）　担当: EC担当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46120" y="199339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yj-0003・mc-0006・loona-h の在庫日数を確認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2523744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欠品リスクがあれば即座に広告を抑制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30540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mc-0006 は成長中のため補充発注を検討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35040" y="1170432"/>
            <a:ext cx="2743200" cy="35661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170432"/>
            <a:ext cx="2743200" cy="43891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11887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 アクセス回復施策の実行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期限: 8月末まで　担当: コンサル担当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126480" y="1993392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RPP広告予算の最適化（インプレッション回復）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26480" y="2523744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検索対策：商品名・キーワードの見直し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3054096"/>
            <a:ext cx="256032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8月イベント（お盆セール）への参加検討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8229600" cy="27432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946904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マクロジ Co., Ltd.  Confidential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10972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412480" y="137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0" y="731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Maclogi-EC Consulting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3291840" cy="4023360"/>
          </a:xfrm>
          <a:prstGeom prst="rect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97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来月に向けて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16002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アクセス回復を軸に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売上 ¥6.5M 以上を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目標として設定します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743200" cy="228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3464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 目標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¥6,500,000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94760" y="868680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868680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896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8/12〜8/15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931920" y="11612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アクセス急減の原因特定（広告・SEO）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94760" y="1554480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94760" y="1554480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5819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8/15〜8/20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931920" y="18470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RPP広告の予算・配信設定を最適化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794760" y="2240280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94760" y="2240280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22677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8/20〜8/25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931920" y="25328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yj-0001_bの価格・ページ・在庫を見直し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794760" y="2926080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0" y="2926080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0" y="29535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8/25〜8/31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931920" y="32186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お盆セール・8月イベント参加の効果検証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794760" y="3611880"/>
            <a:ext cx="502920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8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94760" y="3611880"/>
            <a:ext cx="73152" cy="594360"/>
          </a:xfrm>
          <a:prstGeom prst="rect">
            <a:avLst/>
          </a:prstGeom>
          <a:solidFill>
            <a:srgbClr val="5CBEC6"/>
          </a:solidFill>
          <a:ln w="12700">
            <a:solidFill>
              <a:srgbClr val="5CBE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0" y="36393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B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9/5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931920" y="390448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8月度レポート・KPI振り返りMTG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2026-08-12T09:00:23Z</dcterms:created>
  <dcterms:modified xsi:type="dcterms:W3CDTF">2026-08-12T09:00:23Z</dcterms:modified>
</cp:coreProperties>
</file>